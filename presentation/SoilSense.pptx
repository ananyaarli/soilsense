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legreya Sans"/>
      <p:regular r:id="rId201314"/>
    </p:embeddedFont>
    <p:embeddedFont>
      <p:font typeface="Alegreya Sans Medium"/>
      <p:regular r:id="rId201315"/>
    </p:embeddedFont>
    <p:embeddedFont>
      <p:font typeface="Alegreya Sans Bold"/>
      <p:regular r:id="rId201316"/>
    </p:embeddedFont>
    <p:embeddedFont>
      <p:font typeface="Noto Serif Display Light"/>
      <p:regular r:id="rId201317"/>
    </p:embeddedFont>
    <p:embeddedFont>
      <p:font typeface="Noto Serif Display"/>
      <p:regular r:id="rId201318"/>
    </p:embeddedFont>
    <p:embeddedFont>
      <p:font typeface="Noto Serif Display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3-1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3-2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3-3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3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jpe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3530600"/>
            <a:ext cx="7619809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AGRITECH · ENGINEERING 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981" y="3921702"/>
            <a:ext cx="7010225" cy="85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400" spc="-64" kern="100" dirty="0">
                <a:solidFill>
                  <a:srgbClr val="FFFFFF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SoilSense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61981" y="4937621"/>
            <a:ext cx="761980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IoT-Based Smart Soil Monitoring &amp; Decision Support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1981" y="5506244"/>
            <a:ext cx="150710" cy="31651"/>
          </a:xfrm>
          <a:prstGeom prst="roundRect">
            <a:avLst>
              <a:gd name="adj" fmla="val 49998"/>
            </a:avLst>
          </a:prstGeom>
          <a:solidFill>
            <a:srgbClr val="C9A15A"/>
          </a:solidFill>
          <a:ln/>
        </p:spPr>
      </p:sp>
      <p:sp>
        <p:nvSpPr>
          <p:cNvPr id="6" name="Text 4"/>
          <p:cNvSpPr/>
          <p:nvPr/>
        </p:nvSpPr>
        <p:spPr>
          <a:xfrm>
            <a:off x="761981" y="5822156"/>
            <a:ext cx="7619809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MEASURE · INTERPRET · INFORM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598388"/>
            <a:ext cx="5410065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4A5446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01 · THE DECISION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931304"/>
            <a:ext cx="4876678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17" kern="100" dirty="0">
                <a:solidFill>
                  <a:srgbClr val="1E2620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Soil changes faster than decisions do.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3387" y="2101949"/>
            <a:ext cx="487667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The challenge is not a lack of readings. It is the distance between a reading and a useful next step.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387" y="2905820"/>
            <a:ext cx="2362141" cy="1600696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6" name="Text 4"/>
          <p:cNvSpPr/>
          <p:nvPr/>
        </p:nvSpPr>
        <p:spPr>
          <a:xfrm>
            <a:off x="736582" y="3109020"/>
            <a:ext cx="2158946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FIELD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6582" y="3449935"/>
            <a:ext cx="195575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Conditions need continuous monitoring.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47924" y="2905820"/>
            <a:ext cx="2362141" cy="1600696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9" name="Text 7"/>
          <p:cNvSpPr/>
          <p:nvPr/>
        </p:nvSpPr>
        <p:spPr>
          <a:xfrm>
            <a:off x="3251119" y="3109020"/>
            <a:ext cx="2158946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WATER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51119" y="3449935"/>
            <a:ext cx="1955751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Irrigation depends on moisture and water availability.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387" y="4658916"/>
            <a:ext cx="2362141" cy="1600696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12" name="Text 10"/>
          <p:cNvSpPr/>
          <p:nvPr/>
        </p:nvSpPr>
        <p:spPr>
          <a:xfrm>
            <a:off x="736582" y="4862116"/>
            <a:ext cx="2158946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CROP CARE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582" y="5203031"/>
            <a:ext cx="1955751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Crop-care decisions depend on nutrient and pH conditions.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47924" y="4658916"/>
            <a:ext cx="2362141" cy="1600696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15" name="Text 13"/>
          <p:cNvSpPr/>
          <p:nvPr/>
        </p:nvSpPr>
        <p:spPr>
          <a:xfrm>
            <a:off x="3251119" y="4862116"/>
            <a:ext cx="2158946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TRANSLATION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51119" y="5203031"/>
            <a:ext cx="1955751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Raw readings are difficult to turn into action.</a:t>
            </a:r>
            <a:endParaRPr lang="en-US" sz="16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244" y="0"/>
            <a:ext cx="594345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69861" cy="6858000"/>
          </a:xfrm>
          <a:prstGeom prst="rect">
            <a:avLst/>
          </a:prstGeom>
          <a:solidFill>
            <a:srgbClr val="141A16"/>
          </a:solidFill>
          <a:ln/>
        </p:spPr>
      </p:sp>
      <p:sp>
        <p:nvSpPr>
          <p:cNvPr id="3" name="Text 1"/>
          <p:cNvSpPr/>
          <p:nvPr/>
        </p:nvSpPr>
        <p:spPr>
          <a:xfrm>
            <a:off x="431789" y="1375966"/>
            <a:ext cx="2738071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02 · THE CORE IDEA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1789" y="1708881"/>
            <a:ext cx="2306282" cy="2374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17" kern="100" dirty="0">
                <a:solidFill>
                  <a:srgbClr val="FFFFFF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SoilSense turns readings into decisions.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31789" y="4304407"/>
            <a:ext cx="2306282" cy="1177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spcAft>
                <a:spcPts val="1800"/>
              </a:spcAft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A COMPACT LOOP FROM MEASUREMENT TO PRACTICAL GUIDANCE.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MEASURE → INTERPRET → INFORM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957142" y="431800"/>
            <a:ext cx="2380794" cy="5994400"/>
          </a:xfrm>
          <a:prstGeom prst="rect">
            <a:avLst/>
          </a:prstGeom>
          <a:solidFill>
            <a:srgbClr val="FBF9F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6535" y="2365474"/>
            <a:ext cx="406390" cy="406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36535" y="3006824"/>
            <a:ext cx="2101401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36535" y="3331399"/>
            <a:ext cx="182200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600" spc="-13" kern="100" dirty="0">
                <a:solidFill>
                  <a:srgbClr val="2B332C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MEASURE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236535" y="3923605"/>
            <a:ext cx="182200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Collect NPK, pH, and moisture data.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642728" y="431800"/>
            <a:ext cx="2380794" cy="5994400"/>
          </a:xfrm>
          <a:prstGeom prst="rect">
            <a:avLst/>
          </a:prstGeom>
          <a:solidFill>
            <a:srgbClr val="8FA07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121" y="2081014"/>
            <a:ext cx="406390" cy="406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22121" y="2722364"/>
            <a:ext cx="2101401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000000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922121" y="3046939"/>
            <a:ext cx="182200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600" spc="-13" kern="100" dirty="0">
                <a:solidFill>
                  <a:srgbClr val="000000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INTERPRET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6922121" y="3639145"/>
            <a:ext cx="1822008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Microcontroller captures readings and applies interpretation logic.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9328314" y="431800"/>
            <a:ext cx="2380794" cy="5994400"/>
          </a:xfrm>
          <a:prstGeom prst="rect">
            <a:avLst/>
          </a:prstGeom>
          <a:solidFill>
            <a:srgbClr val="1F3A2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7707" y="2223195"/>
            <a:ext cx="406390" cy="4064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7707" y="2864545"/>
            <a:ext cx="2101401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9607707" y="3189119"/>
            <a:ext cx="182200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600" spc="-13" kern="100" dirty="0">
                <a:solidFill>
                  <a:srgbClr val="FFFFFF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INFORM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9607707" y="3781326"/>
            <a:ext cx="1822008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Surface soil status, alerts, and action-oriented guidance.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30" cy="6858000"/>
          </a:xfrm>
          <a:prstGeom prst="rect">
            <a:avLst/>
          </a:prstGeom>
          <a:solidFill>
            <a:srgbClr val="1F3A2B"/>
          </a:solidFill>
          <a:ln/>
        </p:spPr>
      </p:sp>
      <p:sp>
        <p:nvSpPr>
          <p:cNvPr id="3" name="Text 1"/>
          <p:cNvSpPr/>
          <p:nvPr/>
        </p:nvSpPr>
        <p:spPr>
          <a:xfrm>
            <a:off x="380990" y="457200"/>
            <a:ext cx="318514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03 · 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0990" y="790115"/>
            <a:ext cx="2804149" cy="142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17" kern="100" dirty="0">
                <a:solidFill>
                  <a:srgbClr val="FFFFFF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Three sensors. One clear signal.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80990" y="2435721"/>
            <a:ext cx="2804149" cy="1554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spcAft>
                <a:spcPts val="1800"/>
              </a:spcAft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A PROPOSED SENSING-TO-USER ARCHITECTURE FOR TURNING SOIL CONDITIONS INTO UNDERSTANDABLE INFORMATION.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PHYSICAL WORLD → SENSING → PROCESSING → ANALYSIS → USER → DECISION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75616" y="254000"/>
            <a:ext cx="2468798" cy="3098701"/>
          </a:xfrm>
          <a:prstGeom prst="rect">
            <a:avLst/>
          </a:prstGeom>
          <a:solidFill>
            <a:srgbClr val="FBF9F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8012" y="406400"/>
            <a:ext cx="406390" cy="406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28012" y="1047750"/>
            <a:ext cx="231640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PHYSICAL WORLD →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28012" y="1471216"/>
            <a:ext cx="216400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SOIL / FIELD CONDITIONS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Moisture · nutrients · pH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796810" y="254000"/>
            <a:ext cx="2468798" cy="3098701"/>
          </a:xfrm>
          <a:prstGeom prst="rect">
            <a:avLst/>
          </a:prstGeom>
          <a:solidFill>
            <a:srgbClr val="FBF9F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207" y="406400"/>
            <a:ext cx="406390" cy="406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207" y="1047750"/>
            <a:ext cx="231640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SENSING →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949207" y="1471216"/>
            <a:ext cx="216400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NPK · pH · MOISTURE SENSORS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9418005" y="254000"/>
            <a:ext cx="2468898" cy="3098701"/>
          </a:xfrm>
          <a:prstGeom prst="rect">
            <a:avLst/>
          </a:prstGeom>
          <a:solidFill>
            <a:srgbClr val="8FA07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401" y="406400"/>
            <a:ext cx="406390" cy="406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570401" y="1047750"/>
            <a:ext cx="2316501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000000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PROCESSING →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9570401" y="1471216"/>
            <a:ext cx="216410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MICROCONTROLLER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Data processing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4175616" y="3505101"/>
            <a:ext cx="2468798" cy="3098800"/>
          </a:xfrm>
          <a:prstGeom prst="rect">
            <a:avLst/>
          </a:prstGeom>
          <a:solidFill>
            <a:srgbClr val="8FA07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012" y="3657501"/>
            <a:ext cx="406390" cy="4064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28012" y="4298851"/>
            <a:ext cx="231640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000000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ANALYSIS →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328012" y="4722316"/>
            <a:ext cx="2164006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SOIL-CONDITION ANALYSIS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Soil status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6796810" y="3505101"/>
            <a:ext cx="2468798" cy="3098800"/>
          </a:xfrm>
          <a:prstGeom prst="rect">
            <a:avLst/>
          </a:prstGeom>
          <a:solidFill>
            <a:srgbClr val="1F3A2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207" y="3657501"/>
            <a:ext cx="406390" cy="4064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49207" y="4298851"/>
            <a:ext cx="231640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USER →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6949207" y="4722316"/>
            <a:ext cx="216400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DASHBOARD / ALERT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Farmer-facing information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9418005" y="3505101"/>
            <a:ext cx="2468898" cy="3098800"/>
          </a:xfrm>
          <a:prstGeom prst="rect">
            <a:avLst/>
          </a:prstGeom>
          <a:solidFill>
            <a:srgbClr val="FBF9F3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0401" y="3657501"/>
            <a:ext cx="406390" cy="4064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570401" y="4298851"/>
            <a:ext cx="2316501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9570401" y="4722316"/>
            <a:ext cx="231650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DECISION SUPPORT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58571" cy="6580287"/>
          </a:xfrm>
          <a:prstGeom prst="rect">
            <a:avLst/>
          </a:prstGeom>
          <a:solidFill>
            <a:srgbClr val="141A16"/>
          </a:solidFill>
          <a:ln/>
        </p:spPr>
      </p:sp>
      <p:sp>
        <p:nvSpPr>
          <p:cNvPr id="3" name="Text 1"/>
          <p:cNvSpPr/>
          <p:nvPr/>
        </p:nvSpPr>
        <p:spPr>
          <a:xfrm>
            <a:off x="431789" y="533400"/>
            <a:ext cx="3926781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04 · INSIDE SOILSENSE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1789" y="866315"/>
            <a:ext cx="3494992" cy="142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17" kern="100" dirty="0">
                <a:solidFill>
                  <a:srgbClr val="FFFFFF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From the field to the microcontroller.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31789" y="2511921"/>
            <a:ext cx="3494992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PROPOSED HARDWARE CONFIGURATION — A CLEAR STARTING POINT FOR IMPLEMENTATION.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1789" y="3041352"/>
            <a:ext cx="3494992" cy="495498"/>
          </a:xfrm>
          <a:prstGeom prst="roundRect">
            <a:avLst>
              <a:gd name="adj" fmla="val 4921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3627" y="3102273"/>
            <a:ext cx="3251317" cy="373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spc="154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PROPOSED HARDWARE CONFIGURATION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789" y="3689251"/>
            <a:ext cx="3494992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NPK · PH · MOISTURE SENSING IN A CONNECTED SOIL/CROP ENVIRONMENT.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9654" y="355600"/>
            <a:ext cx="6715652" cy="380553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69654" y="4313535"/>
            <a:ext cx="2721899" cy="879376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11" name="Text 8"/>
          <p:cNvSpPr/>
          <p:nvPr/>
        </p:nvSpPr>
        <p:spPr>
          <a:xfrm>
            <a:off x="5196650" y="4440535"/>
            <a:ext cx="259490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NPK SENSOR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196650" y="4781451"/>
            <a:ext cx="259490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Soil nutrient sensing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943949" y="4313535"/>
            <a:ext cx="3841356" cy="879376"/>
          </a:xfrm>
          <a:prstGeom prst="rect">
            <a:avLst/>
          </a:prstGeom>
          <a:solidFill>
            <a:srgbClr val="8FA079"/>
          </a:solidFill>
          <a:ln/>
        </p:spPr>
      </p:sp>
      <p:sp>
        <p:nvSpPr>
          <p:cNvPr id="14" name="Text 11"/>
          <p:cNvSpPr/>
          <p:nvPr/>
        </p:nvSpPr>
        <p:spPr>
          <a:xfrm>
            <a:off x="8070946" y="4440535"/>
            <a:ext cx="3714359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000000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PH SENSOR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70946" y="4781451"/>
            <a:ext cx="371435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Soil acidity sensing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69654" y="5345311"/>
            <a:ext cx="2721899" cy="879376"/>
          </a:xfrm>
          <a:prstGeom prst="rect">
            <a:avLst/>
          </a:prstGeom>
          <a:solidFill>
            <a:srgbClr val="1F3A2B"/>
          </a:solidFill>
          <a:ln/>
        </p:spPr>
      </p:sp>
      <p:sp>
        <p:nvSpPr>
          <p:cNvPr id="17" name="Text 14"/>
          <p:cNvSpPr/>
          <p:nvPr/>
        </p:nvSpPr>
        <p:spPr>
          <a:xfrm>
            <a:off x="5196650" y="5472311"/>
            <a:ext cx="259490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SOIL MOISTURE SENSOR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196650" y="5813227"/>
            <a:ext cx="259490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Water availability sensing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943949" y="5345311"/>
            <a:ext cx="3841356" cy="879376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20" name="Text 17"/>
          <p:cNvSpPr/>
          <p:nvPr/>
        </p:nvSpPr>
        <p:spPr>
          <a:xfrm>
            <a:off x="8070946" y="5472311"/>
            <a:ext cx="3714359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MICROCONTROLLER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070946" y="5813227"/>
            <a:ext cx="371435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Receives sensor signals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0" y="6707287"/>
            <a:ext cx="12191695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4F574D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THE ARCHITECTURE IS PRESENTED AS A PROPOSED CONFIGURATION, NOT A CLAIM OF COMPLETED FIELD HARDWARE.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73690" cy="6858000"/>
          </a:xfrm>
          <a:prstGeom prst="rect">
            <a:avLst/>
          </a:prstGeom>
          <a:solidFill>
            <a:srgbClr val="8FA079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533400"/>
            <a:ext cx="2418099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000000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05 · DATA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55591" y="866315"/>
            <a:ext cx="2062508" cy="189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17" kern="100" dirty="0">
                <a:solidFill>
                  <a:srgbClr val="000000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Every reading has a purpose.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55591" y="2986881"/>
            <a:ext cx="2062508" cy="1366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spcAft>
                <a:spcPts val="1800"/>
              </a:spcAft>
              <a:buNone/>
            </a:pPr>
            <a:r>
              <a:rPr lang="en-US" sz="1100" spc="132" kern="100" dirty="0">
                <a:solidFill>
                  <a:srgbClr val="000000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THE SYSTEM MOVES FROM PHYSICAL CONDITIONS TO INFORMATION, THEN TO ACTION.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000000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RAW DATA → PROCESSING → MEANING → ACTION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176" y="355600"/>
            <a:ext cx="1290208" cy="6146800"/>
          </a:xfrm>
          <a:prstGeom prst="rect">
            <a:avLst/>
          </a:prstGeom>
          <a:solidFill>
            <a:srgbClr val="FBF9F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0172" y="482600"/>
            <a:ext cx="406390" cy="406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10172" y="1123950"/>
            <a:ext cx="116321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510172" y="1417241"/>
            <a:ext cx="103621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PHYSICAL WORLD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510172" y="1756966"/>
            <a:ext cx="1036215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Moisture · nutrients · pH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825780" y="355600"/>
            <a:ext cx="1290308" cy="6146800"/>
          </a:xfrm>
          <a:prstGeom prst="rect">
            <a:avLst/>
          </a:prstGeom>
          <a:solidFill>
            <a:srgbClr val="FBF9F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777" y="482600"/>
            <a:ext cx="406390" cy="406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52777" y="1123950"/>
            <a:ext cx="1163311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952777" y="1417241"/>
            <a:ext cx="103631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CAPTURE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952777" y="1756966"/>
            <a:ext cx="1036314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Sensors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Raw readings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268484" y="355600"/>
            <a:ext cx="1290308" cy="6146800"/>
          </a:xfrm>
          <a:prstGeom prst="rect">
            <a:avLst/>
          </a:prstGeom>
          <a:solidFill>
            <a:srgbClr val="8FA07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481" y="482600"/>
            <a:ext cx="406390" cy="4064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95481" y="1123950"/>
            <a:ext cx="1163311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000000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95481" y="1421051"/>
            <a:ext cx="1036314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PROCESS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395481" y="1741686"/>
            <a:ext cx="1036314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Microcontroller</a:t>
            </a:r>
            <a:endParaRPr lang="en-US" sz="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Data processing</a:t>
            </a:r>
            <a:endParaRPr lang="en-US" sz="700" dirty="0"/>
          </a:p>
        </p:txBody>
      </p:sp>
      <p:sp>
        <p:nvSpPr>
          <p:cNvPr id="21" name="Shape 16"/>
          <p:cNvSpPr/>
          <p:nvPr/>
        </p:nvSpPr>
        <p:spPr>
          <a:xfrm>
            <a:off x="7711188" y="355600"/>
            <a:ext cx="1290308" cy="6146800"/>
          </a:xfrm>
          <a:prstGeom prst="rect">
            <a:avLst/>
          </a:prstGeom>
          <a:solidFill>
            <a:srgbClr val="8FA07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8184" y="482600"/>
            <a:ext cx="406390" cy="4064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38184" y="1123950"/>
            <a:ext cx="1163311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000000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838184" y="1421051"/>
            <a:ext cx="1036314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INTERPRET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838184" y="1741686"/>
            <a:ext cx="1036314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Soil condition analysis</a:t>
            </a:r>
            <a:endParaRPr lang="en-US" sz="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Soil status</a:t>
            </a:r>
            <a:endParaRPr lang="en-US" sz="700" dirty="0"/>
          </a:p>
        </p:txBody>
      </p:sp>
      <p:sp>
        <p:nvSpPr>
          <p:cNvPr id="26" name="Shape 20"/>
          <p:cNvSpPr/>
          <p:nvPr/>
        </p:nvSpPr>
        <p:spPr>
          <a:xfrm>
            <a:off x="9153891" y="355600"/>
            <a:ext cx="1290308" cy="6146800"/>
          </a:xfrm>
          <a:prstGeom prst="rect">
            <a:avLst/>
          </a:prstGeom>
          <a:solidFill>
            <a:srgbClr val="1F3A2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0888" y="482600"/>
            <a:ext cx="406390" cy="4064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280888" y="1123950"/>
            <a:ext cx="1163311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9280888" y="1417241"/>
            <a:ext cx="103631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INFORM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9280888" y="1756966"/>
            <a:ext cx="1036314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Action-oriented information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10596595" y="355600"/>
            <a:ext cx="1290208" cy="6146800"/>
          </a:xfrm>
          <a:prstGeom prst="rect">
            <a:avLst/>
          </a:prstGeom>
          <a:solidFill>
            <a:srgbClr val="1F3A2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3592" y="482600"/>
            <a:ext cx="406390" cy="4064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0723592" y="1123950"/>
            <a:ext cx="116321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0723592" y="1417241"/>
            <a:ext cx="103621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ACT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0723592" y="1756966"/>
            <a:ext cx="103621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Farmer decision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58571" cy="6858000"/>
          </a:xfrm>
          <a:prstGeom prst="rect">
            <a:avLst/>
          </a:prstGeom>
          <a:solidFill>
            <a:srgbClr val="141A16"/>
          </a:solidFill>
          <a:ln/>
        </p:spPr>
      </p:sp>
      <p:sp>
        <p:nvSpPr>
          <p:cNvPr id="3" name="Text 1"/>
          <p:cNvSpPr/>
          <p:nvPr/>
        </p:nvSpPr>
        <p:spPr>
          <a:xfrm>
            <a:off x="431789" y="533400"/>
            <a:ext cx="3926781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06 · INNOVATION &amp; DIFFERENTIATION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1789" y="866315"/>
            <a:ext cx="3494992" cy="142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17" kern="100" dirty="0">
                <a:solidFill>
                  <a:srgbClr val="FFFFFF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The difference is not sensing. It is understanding.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31789" y="2511921"/>
            <a:ext cx="3494992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ILLUSTRATIVE COMPARISON OF THE INTERPRETATION GAP.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69654" y="355600"/>
            <a:ext cx="3281578" cy="4471888"/>
          </a:xfrm>
          <a:prstGeom prst="rect">
            <a:avLst/>
          </a:prstGeom>
          <a:solidFill>
            <a:srgbClr val="FBF9F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8248" y="584200"/>
            <a:ext cx="406390" cy="406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98248" y="1143000"/>
            <a:ext cx="305298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TRADITIONAL SENSOR APPROACH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298248" y="1467575"/>
            <a:ext cx="2824389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600" spc="-13" kern="100" dirty="0">
                <a:solidFill>
                  <a:srgbClr val="2B332C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Sensor → raw reading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298248" y="2422922"/>
            <a:ext cx="305298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Uncontextualized number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298248" y="2908995"/>
            <a:ext cx="932038" cy="31651"/>
          </a:xfrm>
          <a:prstGeom prst="roundRect">
            <a:avLst>
              <a:gd name="adj" fmla="val 49998"/>
            </a:avLst>
          </a:prstGeom>
          <a:solidFill>
            <a:srgbClr val="1E2620">
              <a:alpha val="1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5298248" y="3142357"/>
            <a:ext cx="305298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Farmer interprets the number.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98248" y="3579217"/>
            <a:ext cx="305298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CONFUSING RAW-NUMBER TREATMENT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503628" y="355600"/>
            <a:ext cx="3281677" cy="4471888"/>
          </a:xfrm>
          <a:prstGeom prst="rect">
            <a:avLst/>
          </a:prstGeom>
          <a:solidFill>
            <a:srgbClr val="1F3A2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222" y="584200"/>
            <a:ext cx="406390" cy="4064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732222" y="1143000"/>
            <a:ext cx="305308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SOILSENSE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732222" y="1467575"/>
            <a:ext cx="282448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600" spc="-13" kern="100" dirty="0">
                <a:solidFill>
                  <a:srgbClr val="FFFFFF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Sensor → reading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8732222" y="2059781"/>
            <a:ext cx="3053083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→ Interpretation → soil status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8732222" y="2545854"/>
            <a:ext cx="932038" cy="31651"/>
          </a:xfrm>
          <a:prstGeom prst="roundRect">
            <a:avLst>
              <a:gd name="adj" fmla="val 49998"/>
            </a:avLst>
          </a:prstGeom>
          <a:solidFill>
            <a:srgbClr val="C9A15A"/>
          </a:solidFill>
          <a:ln/>
        </p:spPr>
      </p:sp>
      <p:sp>
        <p:nvSpPr>
          <p:cNvPr id="20" name="Text 16"/>
          <p:cNvSpPr/>
          <p:nvPr/>
        </p:nvSpPr>
        <p:spPr>
          <a:xfrm>
            <a:off x="8732222" y="2779216"/>
            <a:ext cx="305308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ILLUSTRATIVE EXAMPLE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732222" y="3120132"/>
            <a:ext cx="2824489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SOIL STATUS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Moisture: Adequate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pH: Within range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Nutrients: Requires attention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732222" y="4410373"/>
            <a:ext cx="305308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ACTION-ORIENTED INFORMATION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069654" y="4979888"/>
            <a:ext cx="712204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SoilSense adds a meaning layer between measurement and decision.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584200"/>
            <a:ext cx="7193179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4A5446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07 · EXPECTED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917115"/>
            <a:ext cx="6659793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17" kern="100" dirty="0">
                <a:solidFill>
                  <a:srgbClr val="1E2620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Better information at the moment it matters.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3387" y="2087761"/>
            <a:ext cx="719317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The value proposition is decision support — not a promise of quantified outcomes.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387" y="2607171"/>
            <a:ext cx="3253698" cy="1995686"/>
          </a:xfrm>
          <a:prstGeom prst="rect">
            <a:avLst/>
          </a:prstGeom>
          <a:solidFill>
            <a:srgbClr val="FBF9F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582" y="2810371"/>
            <a:ext cx="406390" cy="40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6582" y="3369171"/>
            <a:ext cx="284730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6582" y="3830737"/>
            <a:ext cx="284730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Support better understanding of soil conditions.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939481" y="2607171"/>
            <a:ext cx="3253698" cy="1995686"/>
          </a:xfrm>
          <a:prstGeom prst="rect">
            <a:avLst/>
          </a:prstGeom>
          <a:solidFill>
            <a:srgbClr val="FBF9F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676" y="2810371"/>
            <a:ext cx="406390" cy="406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42676" y="3369171"/>
            <a:ext cx="284730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Decide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142676" y="3830737"/>
            <a:ext cx="284730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Enable more informed irrigation decisions.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33387" y="4755257"/>
            <a:ext cx="3253698" cy="1995686"/>
          </a:xfrm>
          <a:prstGeom prst="rect">
            <a:avLst/>
          </a:prstGeom>
          <a:solidFill>
            <a:srgbClr val="FBF9F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82" y="4958457"/>
            <a:ext cx="406390" cy="406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6582" y="5517257"/>
            <a:ext cx="284730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Care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736582" y="5978823"/>
            <a:ext cx="284730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Support more informed crop-care decisions.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3939481" y="4755257"/>
            <a:ext cx="3253698" cy="1995686"/>
          </a:xfrm>
          <a:prstGeom prst="rect">
            <a:avLst/>
          </a:prstGeom>
          <a:solidFill>
            <a:srgbClr val="FBF9F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676" y="4958457"/>
            <a:ext cx="406390" cy="4064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142676" y="5517257"/>
            <a:ext cx="284730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Build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4142676" y="5978823"/>
            <a:ext cx="284730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Lay a foundation for data-driven agriculture.</a:t>
            </a:r>
            <a:endParaRPr lang="en-US" sz="16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1259" y="0"/>
            <a:ext cx="416043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30" cy="6858000"/>
          </a:xfrm>
          <a:prstGeom prst="rect">
            <a:avLst/>
          </a:prstGeom>
          <a:solidFill>
            <a:srgbClr val="1F3A2B"/>
          </a:solidFill>
          <a:ln/>
        </p:spPr>
      </p:sp>
      <p:sp>
        <p:nvSpPr>
          <p:cNvPr id="3" name="Text 1"/>
          <p:cNvSpPr/>
          <p:nvPr/>
        </p:nvSpPr>
        <p:spPr>
          <a:xfrm>
            <a:off x="431789" y="533400"/>
            <a:ext cx="3134341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spc="129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08 · FUTURE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1789" y="857751"/>
            <a:ext cx="2702552" cy="139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350" spc="-17" kern="100" dirty="0">
                <a:solidFill>
                  <a:srgbClr val="FFFFFF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From prototype to platform.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431789" y="2463502"/>
            <a:ext cx="2702552" cy="1333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1750"/>
              </a:spcAft>
              <a:buNone/>
            </a:pPr>
            <a:r>
              <a:rPr lang="en-US" sz="1100" spc="129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THE CURRENT CONCEPT ESTABLISHES THE SENSING AND INTERPRETATION LOOP. THESE EXTENSIONS ARE FUTURE SCOPE.</a:t>
            </a:r>
            <a:endParaRPr lang="en-US" sz="11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100" spc="129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CURRENT CONCEPT → FUTURE SCOPE → FUTURE PLATFORM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77213" y="355600"/>
            <a:ext cx="2426433" cy="2728714"/>
          </a:xfrm>
          <a:prstGeom prst="rect">
            <a:avLst/>
          </a:prstGeom>
          <a:solidFill>
            <a:srgbClr val="FBF9F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5009" y="533400"/>
            <a:ext cx="397956" cy="397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55009" y="1077516"/>
            <a:ext cx="2248637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spc="129" kern="1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CURRENT CONCEPT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455009" y="1362571"/>
            <a:ext cx="2070842" cy="537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Sensing + interpretation loop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455009" y="2079327"/>
            <a:ext cx="2070842" cy="827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Soil readings become understandable information.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856043" y="355600"/>
            <a:ext cx="2350334" cy="2728714"/>
          </a:xfrm>
          <a:prstGeom prst="rect">
            <a:avLst/>
          </a:prstGeom>
          <a:solidFill>
            <a:srgbClr val="FBF9F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838" y="533400"/>
            <a:ext cx="397956" cy="397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33838" y="1077516"/>
            <a:ext cx="2172539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spc="129" kern="1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01 · FUTURE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033838" y="1362571"/>
            <a:ext cx="1994743" cy="2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Crop-specific ranges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7033838" y="1810742"/>
            <a:ext cx="1994743" cy="55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Reference ranges and recommendations.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9358773" y="355600"/>
            <a:ext cx="2426532" cy="2728714"/>
          </a:xfrm>
          <a:prstGeom prst="rect">
            <a:avLst/>
          </a:prstGeom>
          <a:solidFill>
            <a:srgbClr val="FBF9F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6568" y="533400"/>
            <a:ext cx="397956" cy="3979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536568" y="1077516"/>
            <a:ext cx="2248737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spc="129" kern="1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02 · FUTURE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9536568" y="1362571"/>
            <a:ext cx="2070941" cy="2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Weather integration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9536568" y="1810742"/>
            <a:ext cx="2070941" cy="55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Bring weather context into decisions.</a:t>
            </a:r>
            <a:endParaRPr lang="en-US" sz="1550" dirty="0"/>
          </a:p>
        </p:txBody>
      </p:sp>
      <p:sp>
        <p:nvSpPr>
          <p:cNvPr id="21" name="Shape 16"/>
          <p:cNvSpPr/>
          <p:nvPr/>
        </p:nvSpPr>
        <p:spPr>
          <a:xfrm>
            <a:off x="4277213" y="3236714"/>
            <a:ext cx="2426433" cy="2728714"/>
          </a:xfrm>
          <a:prstGeom prst="rect">
            <a:avLst/>
          </a:prstGeom>
          <a:solidFill>
            <a:srgbClr val="FBF9F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009" y="3414514"/>
            <a:ext cx="397956" cy="39796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455009" y="3958630"/>
            <a:ext cx="2248637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spc="129" kern="1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03 · FUTURE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455009" y="4243685"/>
            <a:ext cx="2070842" cy="2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Historical tracking</a:t>
            </a:r>
            <a:endParaRPr lang="en-US" sz="1750" dirty="0"/>
          </a:p>
        </p:txBody>
      </p:sp>
      <p:sp>
        <p:nvSpPr>
          <p:cNvPr id="25" name="Text 19"/>
          <p:cNvSpPr/>
          <p:nvPr/>
        </p:nvSpPr>
        <p:spPr>
          <a:xfrm>
            <a:off x="4455009" y="4691856"/>
            <a:ext cx="2070842" cy="55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Build a timeline of soil data.</a:t>
            </a:r>
            <a:endParaRPr lang="en-US" sz="1550" dirty="0"/>
          </a:p>
        </p:txBody>
      </p:sp>
      <p:sp>
        <p:nvSpPr>
          <p:cNvPr id="26" name="Shape 20"/>
          <p:cNvSpPr/>
          <p:nvPr/>
        </p:nvSpPr>
        <p:spPr>
          <a:xfrm>
            <a:off x="6856043" y="3236714"/>
            <a:ext cx="2350334" cy="2728714"/>
          </a:xfrm>
          <a:prstGeom prst="rect">
            <a:avLst/>
          </a:prstGeom>
          <a:solidFill>
            <a:srgbClr val="FBF9F3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3838" y="3414514"/>
            <a:ext cx="397956" cy="39796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033838" y="3958630"/>
            <a:ext cx="2172539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spc="129" kern="1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04 · FUTURE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033838" y="4243685"/>
            <a:ext cx="1994743" cy="2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Dashboard evolution</a:t>
            </a:r>
            <a:endParaRPr lang="en-US" sz="1750" dirty="0"/>
          </a:p>
        </p:txBody>
      </p:sp>
      <p:sp>
        <p:nvSpPr>
          <p:cNvPr id="30" name="Text 23"/>
          <p:cNvSpPr/>
          <p:nvPr/>
        </p:nvSpPr>
        <p:spPr>
          <a:xfrm>
            <a:off x="7033838" y="4691856"/>
            <a:ext cx="1994743" cy="55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Improve notifications and farmer workflows.</a:t>
            </a:r>
            <a:endParaRPr lang="en-US" sz="1550" dirty="0"/>
          </a:p>
        </p:txBody>
      </p:sp>
      <p:sp>
        <p:nvSpPr>
          <p:cNvPr id="31" name="Shape 24"/>
          <p:cNvSpPr/>
          <p:nvPr/>
        </p:nvSpPr>
        <p:spPr>
          <a:xfrm>
            <a:off x="9358773" y="3236714"/>
            <a:ext cx="2426532" cy="2728714"/>
          </a:xfrm>
          <a:prstGeom prst="rect">
            <a:avLst/>
          </a:prstGeom>
          <a:solidFill>
            <a:srgbClr val="1F3A2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6568" y="3414514"/>
            <a:ext cx="397956" cy="39796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536568" y="3958630"/>
            <a:ext cx="2248737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spc="129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FUTURE PLATFORM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9536568" y="4243685"/>
            <a:ext cx="2070941" cy="537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Connected decision support</a:t>
            </a:r>
            <a:endParaRPr lang="en-US" sz="1750" dirty="0"/>
          </a:p>
        </p:txBody>
      </p:sp>
      <p:sp>
        <p:nvSpPr>
          <p:cNvPr id="35" name="Text 27"/>
          <p:cNvSpPr/>
          <p:nvPr/>
        </p:nvSpPr>
        <p:spPr>
          <a:xfrm>
            <a:off x="9536568" y="4960441"/>
            <a:ext cx="2070941" cy="55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Extensions remain future scope.</a:t>
            </a:r>
            <a:endParaRPr lang="en-US" sz="1550" dirty="0"/>
          </a:p>
        </p:txBody>
      </p:sp>
      <p:sp>
        <p:nvSpPr>
          <p:cNvPr id="36" name="Shape 28"/>
          <p:cNvSpPr/>
          <p:nvPr/>
        </p:nvSpPr>
        <p:spPr>
          <a:xfrm>
            <a:off x="4277213" y="6190655"/>
            <a:ext cx="1752159" cy="302220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C9A15A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4396570" y="6250285"/>
            <a:ext cx="2123030" cy="182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150" kern="100" dirty="0">
                <a:solidFill>
                  <a:srgbClr val="C9A15A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FUTURE ENABLERS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4277213" y="6718102"/>
            <a:ext cx="7508092" cy="369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spc="129" kern="100" dirty="0">
                <a:solidFill>
                  <a:srgbClr val="4F574D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CLOUD CONNECTIVITY · MOBILE APPLICATION · AI/ML RECOMMENDATIONS · PREDICTIVE CROP-CARE INSIGHTS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3276600"/>
            <a:ext cx="7873803" cy="3450927"/>
          </a:xfrm>
          <a:prstGeom prst="roundRect">
            <a:avLst>
              <a:gd name="adj" fmla="val 883"/>
            </a:avLst>
          </a:prstGeom>
          <a:solidFill>
            <a:srgbClr val="141A16">
              <a:alpha val="7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39776" y="3454400"/>
            <a:ext cx="8026199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09 · CLOSING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9776" y="3820770"/>
            <a:ext cx="7416614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spc="-48" kern="100" dirty="0">
                <a:solidFill>
                  <a:srgbClr val="FFFFFF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Measure. Interpret. Inform.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39776" y="5337373"/>
            <a:ext cx="150710" cy="31651"/>
          </a:xfrm>
          <a:prstGeom prst="roundRect">
            <a:avLst>
              <a:gd name="adj" fmla="val 49998"/>
            </a:avLst>
          </a:prstGeom>
          <a:solidFill>
            <a:srgbClr val="C9A15A"/>
          </a:solidFill>
          <a:ln/>
        </p:spPr>
      </p:sp>
      <p:sp>
        <p:nvSpPr>
          <p:cNvPr id="6" name="Text 4"/>
          <p:cNvSpPr/>
          <p:nvPr/>
        </p:nvSpPr>
        <p:spPr>
          <a:xfrm>
            <a:off x="939776" y="5653286"/>
            <a:ext cx="802619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SoilSense bridges the gap between raw soil measurements and practical farming decisions.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9776" y="6172696"/>
            <a:ext cx="7416614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REAL-TIME SOIL MONITORING · MEANINGFUL INTERPRETATION · ACTION-ORIENTED FARMER INFORMATION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2026-10-07T15:36:08Z</dcterms:created>
  <dcterms:modified xsi:type="dcterms:W3CDTF">2026-10-07T15:36:08Z</dcterms:modified>
</cp:coreProperties>
</file>